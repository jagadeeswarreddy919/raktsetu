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Arial"/>
              </a:rPr>
              <a:t>RAKTSETU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EF4444"/>
                </a:solidFill>
                <a:latin typeface="Arial"/>
              </a:rPr>
              <a:t>Next-Generation Smart Blood Management &amp; P2P Bridging Platform</a:t>
            </a:r>
          </a:p>
          <a:p>
            <a:pPr>
              <a:spcBef>
                <a:spcPts val="2400"/>
              </a:spcBef>
            </a:pPr>
            <a:r>
              <a:rPr sz="1400">
                <a:solidFill>
                  <a:srgbClr val="94A3B8"/>
                </a:solidFill>
                <a:latin typeface="Arial"/>
              </a:rPr>
              <a:t>An intelligent, high-throughput microservices architecture connecting donors, recipients, and hospitals with real-time communications and machine learning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4A3B8"/>
                </a:solidFill>
                <a:latin typeface="Arial"/>
              </a:rPr>
              <a:t>System Architecture &amp; Comprehensive Overview  |  Technical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The Critical Challenges in Blood Donation &amp;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[SILOS]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Information &amp; Supply Silos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Arial"/>
              </a:rPr>
              <a:t>Blood banks, hospitals, and active donors operate in highly fragmented silos. Real-time availability of specific blood groups is extremely restricted, resulting in critical communication delays during medical emergencies.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82880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Arial"/>
              </a:rPr>
              <a:t>[FRICTION]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Inefficient Donor Matching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Arial"/>
              </a:rPr>
              <a:t>Emergency requests rely heavily on manual calls and social media broadcasting. Locating verified, eligible, and physically nearby donors in real-time is a chaotic process lacking scientific ranking or proximity filtering.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82880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[DEFICITS]</a:t>
            </a:r>
          </a:p>
          <a:p>
            <a:pPr>
              <a:spcBef>
                <a:spcPts val="1200"/>
              </a:spcBef>
            </a:pPr>
            <a:r>
              <a:rPr sz="2000" b="1">
                <a:solidFill>
                  <a:srgbClr val="FFFFFF"/>
                </a:solidFill>
                <a:latin typeface="Arial"/>
              </a:rPr>
              <a:t>Seasonal Shortage Vulnerability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Arial"/>
              </a:rPr>
              <a:t>Hospitals struggle with predictive inventory management. Without forecasting regional blood demand spikes and donation dips, administrations fail to take proactive measures before deficit situations arise.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THE CORE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RaktSetu: The Intelligent Blood Bridge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50592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EF4444"/>
                </a:solidFill>
                <a:latin typeface="Arial"/>
              </a:rPr>
              <a:t>REAL-TIME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Instant P2P Chat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Seamlessly connects donor and recipient directly in a secure, real-time chat workspace. Facilitates immediate coordination without publicizing sensitive contact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864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83864" y="1828800"/>
            <a:ext cx="245059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6744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Arial"/>
              </a:rPr>
              <a:t>SMART FILTER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AI Match &amp; Rank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ML algorithms parse geographical factors, active availability, verification status, and historical eligibility to rank and list the ideal matching donors within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828800"/>
            <a:ext cx="245059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Arial"/>
              </a:rPr>
              <a:t>FORECASTING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Predictive Shortage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Empowers hospitals with Scikit-Learn based intelligence forecasting blood inventory deficit levels dynamically based on local historical data and seasonal trends.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828800"/>
            <a:ext cx="24505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88552" y="1828800"/>
            <a:ext cx="245059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2103120"/>
            <a:ext cx="208483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Arial"/>
              </a:rPr>
              <a:t>RETENTION</a:t>
            </a: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FFFFFF"/>
                </a:solidFill>
                <a:latin typeface="Arial"/>
              </a:rPr>
              <a:t>Gamified Rewards</a:t>
            </a:r>
          </a:p>
          <a:p>
            <a:pPr>
              <a:spcBef>
                <a:spcPts val="1200"/>
              </a:spcBef>
            </a:pPr>
            <a:r>
              <a:rPr sz="1200">
                <a:solidFill>
                  <a:srgbClr val="94A3B8"/>
                </a:solidFill>
                <a:latin typeface="Arial"/>
              </a:rPr>
              <a:t>Encourages a continuous culture of blood donations through a point-based gamified structure, milestone achievement tracker, and verified donor validation trust badges.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Robust High-Performance Microservices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137160" cy="1005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92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Arial"/>
              </a:rPr>
              <a:t>1. PREMIUM CLIENT PORTAL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React 18 / Redux Toolkit / CSS Glassmorphism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Role-specific intuitive portals for Admin, Donor, Recipient, and Hospital. Dynamic dashboard states &amp; localized routing.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371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35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Arial"/>
              </a:rPr>
              <a:t>2. API GATEWAY &amp; CORE BACKEND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Node.js / Express.js / MongoDB Database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Handles core API requests, authenticates sessions with secure JWTs, coordinates chat sockets, and manages persistent user schema 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13716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78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Arial"/>
              </a:rPr>
              <a:t>3. PREDICTIVE ML ENGINE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FastAPI Microservice / Python / Scikit-Learn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Lightweight, highly optimized microservice supplying regional shortage predictions &amp; applying multidimensional ranking of eligible donors.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8655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212080"/>
            <a:ext cx="1371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2180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4. HIGH-THROUGHPUT ANALYTICS</a:t>
            </a:r>
            <a:r>
              <a:rPr sz="1200" b="1">
                <a:solidFill>
                  <a:srgbClr val="FFFFFF"/>
                </a:solidFill>
                <a:latin typeface="Arial"/>
              </a:rPr>
              <a:t>   |   Java Spring Boot / Scheduled Tasks Consolidation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4A3B8"/>
                </a:solidFill>
                <a:latin typeface="Arial"/>
              </a:rPr>
              <a:t>Consolidates large-volume system logs asynchronously, monitors queue parameters, and evaluates metrics under extreme latency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USER DASHBOARD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Targeted Operations: Multi-Role Dashboard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Donor Dashboard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Gamified Reward Points &amp; verified donor validation badges.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Real-time toggles for donor active availability status.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Comprehensive medical documentation &amp; upload interface.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10B981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Upcoming campaign registrations and historic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828800"/>
            <a:ext cx="3328416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Hospital Dashboard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Real-time blood stock levels and storage management.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Predictive analytics panel predicting regional shortage levels.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Advanced donor directory with proximity filtering.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EF4444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Official campaign builder and notification broadcasts.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828800"/>
            <a:ext cx="3328416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1031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Recipient &amp; Admin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Fast, clean blood emergency requests generation wizard.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P2P direct chat hub for immediate donor coordinate sessions.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Admin audit logs, campaign moderation, and user checks.</a:t>
            </a:r>
          </a:p>
          <a:p>
            <a:pPr>
              <a:spcBef>
                <a:spcPts val="1200"/>
              </a:spcBef>
            </a:pPr>
            <a:r>
              <a:rPr b="1">
                <a:solidFill>
                  <a:srgbClr val="F59E0B"/>
                </a:solidFill>
              </a:rPr>
              <a:t>• </a:t>
            </a:r>
            <a:r>
              <a:rPr sz="1150">
                <a:solidFill>
                  <a:srgbClr val="94A3B8"/>
                </a:solidFill>
                <a:latin typeface="Arial"/>
              </a:rPr>
              <a:t>Comprehensive visual metrics representing platform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PREDICTIVE AI &amp; 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Deep Dive: Smart Donor Ranking &amp; Shortage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75504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1. Regional Shortage Prediction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API Endpoint: </a:t>
            </a:r>
            <a:r>
              <a:rPr sz="1200">
                <a:solidFill>
                  <a:srgbClr val="94A3B8"/>
                </a:solidFill>
              </a:rPr>
              <a:t>/api/ai/predict-shortage (POST)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Model Inputs: </a:t>
            </a:r>
            <a:r>
              <a:rPr sz="1200">
                <a:solidFill>
                  <a:srgbClr val="94A3B8"/>
                </a:solidFill>
              </a:rPr>
              <a:t>Month, State Code, Pincode Factor, Current Inventory, &amp; Previous Month Demand.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ML Algorithm: </a:t>
            </a:r>
            <a:r>
              <a:rPr sz="1200">
                <a:solidFill>
                  <a:srgbClr val="94A3B8"/>
                </a:solidFill>
              </a:rPr>
              <a:t>Scikit-Learn Regression pipeline evaluating stock density values.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EF4444"/>
                </a:solidFill>
              </a:rPr>
              <a:t>Output Signal: </a:t>
            </a:r>
            <a:r>
              <a:rPr sz="1200">
                <a:solidFill>
                  <a:srgbClr val="94A3B8"/>
                </a:solidFill>
              </a:rPr>
              <a:t>Quantifiable shortage index representing high-deficit risk vs safe-buffer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72784" y="1828800"/>
            <a:ext cx="51755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2. Multi-Criteria Donor Ranking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API Endpoint: </a:t>
            </a:r>
            <a:r>
              <a:rPr sz="1200">
                <a:solidFill>
                  <a:srgbClr val="94A3B8"/>
                </a:solidFill>
              </a:rPr>
              <a:t>/api/ai/rank-donors (POST)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Geographical Match: </a:t>
            </a:r>
            <a:r>
              <a:rPr sz="1200">
                <a:solidFill>
                  <a:srgbClr val="94A3B8"/>
                </a:solidFill>
              </a:rPr>
              <a:t>Evaluates exact proximity matches across State, District, City, Area, &amp; Pincode.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Engagement Metrics: </a:t>
            </a:r>
            <a:r>
              <a:rPr sz="1200">
                <a:solidFill>
                  <a:srgbClr val="94A3B8"/>
                </a:solidFill>
              </a:rPr>
              <a:t>Injects user verified checks, last donation date validation (safeguarding safety gaps), and gamified points.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10B981"/>
                </a:solidFill>
              </a:rPr>
              <a:t>Result Output: </a:t>
            </a:r>
            <a:r>
              <a:rPr sz="1200">
                <a:solidFill>
                  <a:srgbClr val="94A3B8"/>
                </a:solidFill>
              </a:rPr>
              <a:t>A sorted catalog of active available donors ranked on real availability score, preventing unnecessary notification fatigue.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SPRING BOOT ANALYTICS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Asynchronous Log Consolidation &amp; Microservice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72865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10058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rial"/>
              </a:rPr>
              <a:t>Microservice Specifications: /api/analytics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Background Consolidation   —   </a:t>
            </a:r>
            <a:r>
              <a:rPr sz="1300">
                <a:solidFill>
                  <a:srgbClr val="94A3B8"/>
                </a:solidFill>
              </a:rPr>
              <a:t>Configured with Spring Scheduling tasks consolidation, running at fixed 15-second cycles to emulate heavy logging clusters and compress operational metrics.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Simulated Message Queue   —   </a:t>
            </a:r>
            <a:r>
              <a:rPr sz="1300">
                <a:solidFill>
                  <a:srgbClr val="94A3B8"/>
                </a:solidFill>
              </a:rPr>
              <a:t>Monitors simulated queue performance indices (average latency stable at 42.5ms, processed jobs: ~1420+, generated reports: ~385+).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System Indicators   —   </a:t>
            </a:r>
            <a:r>
              <a:rPr sz="1300">
                <a:solidFill>
                  <a:srgbClr val="94A3B8"/>
                </a:solidFill>
              </a:rPr>
              <a:t>Exposes endpoints for system summary (/system-summary) and monthly donation vs demand distribution ratios (/monthly-distribution) for visualization charts.</a:t>
            </a:r>
          </a:p>
          <a:p>
            <a:pPr>
              <a:spcBef>
                <a:spcPts val="1400"/>
              </a:spcBef>
            </a:pPr>
            <a:r>
              <a:rPr b="1" sz="1350">
                <a:solidFill>
                  <a:srgbClr val="F59E0B"/>
                </a:solidFill>
              </a:rPr>
              <a:t>Framework Stack   —   </a:t>
            </a:r>
            <a:r>
              <a:rPr sz="1300">
                <a:solidFill>
                  <a:srgbClr val="94A3B8"/>
                </a:solidFill>
              </a:rPr>
              <a:t>Java 17, Spring Boot 3.2.5, Web modules, scheduling, cross-origin allowed REST structures for backend gateway synchronization.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EF4444"/>
                </a:solidFill>
                <a:latin typeface="Arial"/>
              </a:rPr>
              <a:t>ROADMAP &amp; STACK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Future Outlook, Value Delivery &amp; Technology Stack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1755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Complete Technology Stack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Frontend client: </a:t>
            </a:r>
            <a:r>
              <a:rPr sz="1150">
                <a:solidFill>
                  <a:srgbClr val="94A3B8"/>
                </a:solidFill>
              </a:rPr>
              <a:t>React, Redux Toolkit, React-Router-Dom v6, Custom Glassmorphism Theme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Gateway &amp; API: </a:t>
            </a:r>
            <a:r>
              <a:rPr sz="1150">
                <a:solidFill>
                  <a:srgbClr val="94A3B8"/>
                </a:solidFill>
              </a:rPr>
              <a:t>Node.js, Express, MongoDB (Mongoose schemas), Socket.io (real-time chat)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AI Microservice: </a:t>
            </a:r>
            <a:r>
              <a:rPr sz="1150">
                <a:solidFill>
                  <a:srgbClr val="94A3B8"/>
                </a:solidFill>
              </a:rPr>
              <a:t>FastAPI (Python), Scikit-Learn, Pydantic, Uvicorn Server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Analytics: </a:t>
            </a:r>
            <a:r>
              <a:rPr sz="1150">
                <a:solidFill>
                  <a:srgbClr val="94A3B8"/>
                </a:solidFill>
              </a:rPr>
              <a:t>Java 17, Spring Boot 3.2.5, Spring Scheduler, Maven dependencies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10B981"/>
                </a:solidFill>
              </a:rPr>
              <a:t>Process Control: </a:t>
            </a:r>
            <a:r>
              <a:rPr sz="1150">
                <a:solidFill>
                  <a:srgbClr val="94A3B8"/>
                </a:solidFill>
              </a:rPr>
              <a:t>PM2 Ecosystem configuration, Docker-Compose, Powershell Launchers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72784" y="1828800"/>
            <a:ext cx="5175504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103120"/>
            <a:ext cx="462686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Strategic Roadmap &amp; Scaling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Local API Integration: </a:t>
            </a:r>
            <a:r>
              <a:rPr sz="1150">
                <a:solidFill>
                  <a:srgbClr val="94A3B8"/>
                </a:solidFill>
              </a:rPr>
              <a:t>Sync directly with regional health authorities and private hospital inventory management software arrays.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Automated Alerts: </a:t>
            </a:r>
            <a:r>
              <a:rPr sz="1150">
                <a:solidFill>
                  <a:srgbClr val="94A3B8"/>
                </a:solidFill>
              </a:rPr>
              <a:t>Integrate automated cellular SMS/WhatsApp gateways for critical localized blood type shortage announcements.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Advanced ML Models: </a:t>
            </a:r>
            <a:r>
              <a:rPr sz="1150">
                <a:solidFill>
                  <a:srgbClr val="94A3B8"/>
                </a:solidFill>
              </a:rPr>
              <a:t>Upgrade current Scikit-Learn pipelines to Deep Learning LSTM networks for long-term seasonal forecasting.</a:t>
            </a:r>
          </a:p>
          <a:p>
            <a:pPr>
              <a:spcBef>
                <a:spcPts val="800"/>
              </a:spcBef>
            </a:pPr>
            <a:r>
              <a:rPr b="1" sz="1150">
                <a:solidFill>
                  <a:srgbClr val="EF4444"/>
                </a:solidFill>
              </a:rPr>
              <a:t>Native Mobile App: </a:t>
            </a:r>
            <a:r>
              <a:rPr sz="1150">
                <a:solidFill>
                  <a:srgbClr val="94A3B8"/>
                </a:solidFill>
              </a:rPr>
              <a:t>Build native iOS and Android application platforms to implement geofenced emergency notification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